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74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7129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E8A8A"/>
          </a:solidFill>
          <a:ln w="12700">
            <a:solidFill>
              <a:srgbClr val="0E8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731520"/>
            <a:ext cx="164592" cy="164592"/>
          </a:xfrm>
          <a:prstGeom prst="ellipse">
            <a:avLst/>
          </a:prstGeom>
          <a:solidFill>
            <a:srgbClr val="0E8A8A">
              <a:alpha val="40000"/>
            </a:srgbClr>
          </a:solidFill>
          <a:ln w="12700">
            <a:solidFill>
              <a:srgbClr val="0E8A8A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0" y="1188720"/>
            <a:ext cx="164592" cy="164592"/>
          </a:xfrm>
          <a:prstGeom prst="ellipse">
            <a:avLst/>
          </a:prstGeom>
          <a:solidFill>
            <a:srgbClr val="0E8A8A">
              <a:alpha val="40000"/>
            </a:srgbClr>
          </a:solidFill>
          <a:ln w="12700">
            <a:solidFill>
              <a:srgbClr val="0E8A8A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0" y="731520"/>
            <a:ext cx="164592" cy="164592"/>
          </a:xfrm>
          <a:prstGeom prst="ellipse">
            <a:avLst/>
          </a:prstGeom>
          <a:solidFill>
            <a:srgbClr val="0E8A8A">
              <a:alpha val="40000"/>
            </a:srgbClr>
          </a:solidFill>
          <a:ln w="12700">
            <a:solidFill>
              <a:srgbClr val="0E8A8A">
                <a:alpha val="4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0" y="274320"/>
            <a:ext cx="164592" cy="164592"/>
          </a:xfrm>
          <a:prstGeom prst="ellipse">
            <a:avLst/>
          </a:prstGeom>
          <a:solidFill>
            <a:srgbClr val="0E8A8A">
              <a:alpha val="40000"/>
            </a:srgbClr>
          </a:solidFill>
          <a:ln w="12700">
            <a:solidFill>
              <a:srgbClr val="0E8A8A">
                <a:alpha val="4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0" y="2011680"/>
            <a:ext cx="164592" cy="164592"/>
          </a:xfrm>
          <a:prstGeom prst="ellipse">
            <a:avLst/>
          </a:prstGeom>
          <a:solidFill>
            <a:srgbClr val="0E8A8A">
              <a:alpha val="40000"/>
            </a:srgbClr>
          </a:solidFill>
          <a:ln w="12700">
            <a:solidFill>
              <a:srgbClr val="0E8A8A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0" y="2468880"/>
            <a:ext cx="164592" cy="164592"/>
          </a:xfrm>
          <a:prstGeom prst="ellipse">
            <a:avLst/>
          </a:prstGeom>
          <a:solidFill>
            <a:srgbClr val="0E8A8A">
              <a:alpha val="40000"/>
            </a:srgbClr>
          </a:solidFill>
          <a:ln w="12700">
            <a:solidFill>
              <a:srgbClr val="0E8A8A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0" y="2011680"/>
            <a:ext cx="164592" cy="164592"/>
          </a:xfrm>
          <a:prstGeom prst="ellipse">
            <a:avLst/>
          </a:prstGeom>
          <a:solidFill>
            <a:srgbClr val="0E8A8A">
              <a:alpha val="40000"/>
            </a:srgbClr>
          </a:solidFill>
          <a:ln w="12700">
            <a:solidFill>
              <a:srgbClr val="0E8A8A">
                <a:alpha val="4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0" y="3291840"/>
            <a:ext cx="164592" cy="164592"/>
          </a:xfrm>
          <a:prstGeom prst="ellipse">
            <a:avLst/>
          </a:prstGeom>
          <a:solidFill>
            <a:srgbClr val="0E8A8A">
              <a:alpha val="40000"/>
            </a:srgbClr>
          </a:solidFill>
          <a:ln w="12700">
            <a:solidFill>
              <a:srgbClr val="0E8A8A">
                <a:alpha val="4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0" y="3291840"/>
            <a:ext cx="164592" cy="164592"/>
          </a:xfrm>
          <a:prstGeom prst="ellipse">
            <a:avLst/>
          </a:prstGeom>
          <a:solidFill>
            <a:srgbClr val="0E8A8A">
              <a:alpha val="40000"/>
            </a:srgbClr>
          </a:solidFill>
          <a:ln w="12700">
            <a:solidFill>
              <a:srgbClr val="0E8A8A">
                <a:alpha val="4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3749040"/>
            <a:ext cx="164592" cy="164592"/>
          </a:xfrm>
          <a:prstGeom prst="ellipse">
            <a:avLst/>
          </a:prstGeom>
          <a:solidFill>
            <a:srgbClr val="0E8A8A">
              <a:alpha val="40000"/>
            </a:srgbClr>
          </a:solidFill>
          <a:ln w="12700">
            <a:solidFill>
              <a:srgbClr val="0E8A8A">
                <a:alpha val="4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A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Mindanao — Tagum Branch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105156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Morse Code Translator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548640" y="2148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Assistive &amp; Educational Desktop Application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2670048"/>
            <a:ext cx="4114800" cy="36576"/>
          </a:xfrm>
          <a:prstGeom prst="rect">
            <a:avLst/>
          </a:prstGeom>
          <a:solidFill>
            <a:srgbClr val="0E8A8A"/>
          </a:solidFill>
          <a:ln w="12700">
            <a:solidFill>
              <a:srgbClr val="0E8A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28346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6 — Algorithms and Complexity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3246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C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 JB A. Mundiz   |   Ramil Alexander Gabriel M. Mabanag   |   Alexie Bryce C. San Jose   |   John Mark Sato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526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0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to: Kate Stefunny T. Bruno  •  March 13,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0E8A8A"/>
          </a:solidFill>
          <a:ln w="12700">
            <a:solidFill>
              <a:srgbClr val="0E8A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Problem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8A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Core Challenge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931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communication breaks down when individuals cannot use speech, typing, or standard digital input methods — due to physical disability, speech impairment, or deafblindness.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846320" y="10515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8A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Morse Code?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846320" y="1417320"/>
            <a:ext cx="3931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Morse code reduces any message to just two signals — dots and dashes — capable of representing the entire alphabet and numeral system. It is practical for users relying on switches, taps, or simplified input devices.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1005840"/>
            <a:ext cx="36576" cy="1920240"/>
          </a:xfrm>
          <a:prstGeom prst="rect">
            <a:avLst/>
          </a:prstGeom>
          <a:solidFill>
            <a:srgbClr val="A8D8D8"/>
          </a:solidFill>
          <a:ln w="12700">
            <a:solidFill>
              <a:srgbClr val="A8D8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3017520"/>
            <a:ext cx="8229600" cy="914400"/>
          </a:xfrm>
          <a:prstGeom prst="rect">
            <a:avLst/>
          </a:prstGeom>
          <a:solidFill>
            <a:srgbClr val="1A2B4A">
              <a:alpha val="92000"/>
            </a:srgbClr>
          </a:solidFill>
          <a:ln w="12700">
            <a:solidFill>
              <a:srgbClr val="0E8A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090672"/>
            <a:ext cx="78638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Support: </a:t>
            </a:r>
            <a:r>
              <a:rPr lang="en-US" sz="1200" dirty="0">
                <a:solidFill>
                  <a:srgbClr val="C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(2003) confirmed Morse code as a practical AAC method for switch/tap users. Hsieh &amp; Luo (1999) showed structured training improves speed and stability for users with motor impairments like cerebral palsy.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Yang, 2003; Hsieh &amp; Luo, 1999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0E8A8A"/>
          </a:solidFill>
          <a:ln w="12700">
            <a:solidFill>
              <a:srgbClr val="0E8A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Problem — Practical Scenarios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397764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E0E8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960120"/>
            <a:ext cx="73152" cy="1554480"/>
          </a:xfrm>
          <a:prstGeom prst="rect">
            <a:avLst/>
          </a:prstGeom>
          <a:solidFill>
            <a:srgbClr val="0E8A8A"/>
          </a:solidFill>
          <a:ln w="12700">
            <a:solidFill>
              <a:srgbClr val="0E8A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06984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Assistive Communication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1435608"/>
            <a:ext cx="3703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who cannot speak use Morse code taps or switches as an alternative to conventional keyboards.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960120"/>
            <a:ext cx="397764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E0E8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960120"/>
            <a:ext cx="73152" cy="1554480"/>
          </a:xfrm>
          <a:prstGeom prst="rect">
            <a:avLst/>
          </a:prstGeom>
          <a:solidFill>
            <a:srgbClr val="0E8A8A"/>
          </a:solidFill>
          <a:ln w="12700">
            <a:solidFill>
              <a:srgbClr val="0E8A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19472" y="106984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&amp; Education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19472" y="1435608"/>
            <a:ext cx="3703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Beginners learning Morse code benefit from real-time encoding and visual/audio feedback tools.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743200"/>
            <a:ext cx="397764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E0E8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743200"/>
            <a:ext cx="73152" cy="1554480"/>
          </a:xfrm>
          <a:prstGeom prst="rect">
            <a:avLst/>
          </a:prstGeom>
          <a:solidFill>
            <a:srgbClr val="0E8A8A"/>
          </a:solidFill>
          <a:ln w="12700">
            <a:solidFill>
              <a:srgbClr val="0E8A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" y="285292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Emergency Signals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30352" y="3218688"/>
            <a:ext cx="3703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SOS and other emergency signals quickly in crisis or field conditions.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54880" y="2743200"/>
            <a:ext cx="397764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E0E8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2743200"/>
            <a:ext cx="73152" cy="1554480"/>
          </a:xfrm>
          <a:prstGeom prst="rect">
            <a:avLst/>
          </a:prstGeom>
          <a:solidFill>
            <a:srgbClr val="0E8A8A"/>
          </a:solidFill>
          <a:ln w="12700">
            <a:solidFill>
              <a:srgbClr val="0E8A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19472" y="285292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Low-Signal Environments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19472" y="3218688"/>
            <a:ext cx="3703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Underground or high-vibration settings where conventional signals are unreliable (Jiang et al., 2021).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" y="4480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contexts establish a clear need for a tool that can encode, decode, and support learning through visual and audio feedback.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0E8A8A"/>
          </a:solidFill>
          <a:ln w="12700">
            <a:solidFill>
              <a:srgbClr val="0E8A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Proposed Project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Morse Code Translator is a desktop application providing a straightforward interface for translating between plain text and Morse code, with features designed for both communication and learning.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3931920" cy="502920"/>
          </a:xfrm>
          <a:prstGeom prst="rect">
            <a:avLst/>
          </a:prstGeom>
          <a:solidFill>
            <a:srgbClr val="1A2B4A">
              <a:alpha val="94000"/>
            </a:srgbClr>
          </a:solidFill>
          <a:ln w="9525">
            <a:solidFill>
              <a:srgbClr val="0E8A8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2011680"/>
            <a:ext cx="219456" cy="219456"/>
          </a:xfrm>
          <a:prstGeom prst="ellipse">
            <a:avLst/>
          </a:prstGeom>
          <a:solidFill>
            <a:srgbClr val="0E8A8A"/>
          </a:solidFill>
          <a:ln w="12700">
            <a:solidFill>
              <a:srgbClr val="0E8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94767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Text-to-Morse Encoding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54880" y="1874520"/>
            <a:ext cx="3931920" cy="502920"/>
          </a:xfrm>
          <a:prstGeom prst="rect">
            <a:avLst/>
          </a:prstGeom>
          <a:solidFill>
            <a:srgbClr val="1A2B4A">
              <a:alpha val="94000"/>
            </a:srgbClr>
          </a:solidFill>
          <a:ln w="9525">
            <a:solidFill>
              <a:srgbClr val="0E8A8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64608" y="2011680"/>
            <a:ext cx="219456" cy="219456"/>
          </a:xfrm>
          <a:prstGeom prst="ellipse">
            <a:avLst/>
          </a:prstGeom>
          <a:solidFill>
            <a:srgbClr val="0E8A8A"/>
          </a:solidFill>
          <a:ln w="12700">
            <a:solidFill>
              <a:srgbClr val="0E8A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3792" y="1947672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Morse-to-Text Decoding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2532888"/>
            <a:ext cx="3931920" cy="502920"/>
          </a:xfrm>
          <a:prstGeom prst="rect">
            <a:avLst/>
          </a:prstGeom>
          <a:solidFill>
            <a:srgbClr val="1A2B4A">
              <a:alpha val="94000"/>
            </a:srgbClr>
          </a:solidFill>
          <a:ln w="9525">
            <a:solidFill>
              <a:srgbClr val="0E8A8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66928" y="2670048"/>
            <a:ext cx="219456" cy="219456"/>
          </a:xfrm>
          <a:prstGeom prst="ellipse">
            <a:avLst/>
          </a:prstGeom>
          <a:solidFill>
            <a:srgbClr val="0E8A8A"/>
          </a:solidFill>
          <a:ln w="12700">
            <a:solidFill>
              <a:srgbClr val="0E8A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260604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Telegraph-Style Input Mode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754880" y="2532888"/>
            <a:ext cx="3931920" cy="502920"/>
          </a:xfrm>
          <a:prstGeom prst="rect">
            <a:avLst/>
          </a:prstGeom>
          <a:solidFill>
            <a:srgbClr val="1A2B4A">
              <a:alpha val="94000"/>
            </a:srgbClr>
          </a:solidFill>
          <a:ln w="9525">
            <a:solidFill>
              <a:srgbClr val="0E8A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64608" y="2670048"/>
            <a:ext cx="219456" cy="219456"/>
          </a:xfrm>
          <a:prstGeom prst="ellipse">
            <a:avLst/>
          </a:prstGeom>
          <a:solidFill>
            <a:srgbClr val="0E8A8A"/>
          </a:solidFill>
          <a:ln w="12700">
            <a:solidFill>
              <a:srgbClr val="0E8A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3792" y="260604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Morse Audio Playback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3191256"/>
            <a:ext cx="3931920" cy="502920"/>
          </a:xfrm>
          <a:prstGeom prst="rect">
            <a:avLst/>
          </a:prstGeom>
          <a:solidFill>
            <a:srgbClr val="1A2B4A">
              <a:alpha val="94000"/>
            </a:srgbClr>
          </a:solidFill>
          <a:ln w="9525">
            <a:solidFill>
              <a:srgbClr val="0E8A8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3328416"/>
            <a:ext cx="219456" cy="219456"/>
          </a:xfrm>
          <a:prstGeom prst="ellipse">
            <a:avLst/>
          </a:prstGeom>
          <a:solidFill>
            <a:srgbClr val="0E8A8A"/>
          </a:solidFill>
          <a:ln w="12700">
            <a:solidFill>
              <a:srgbClr val="0E8A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326440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WAV Audio Decoding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754880" y="3191256"/>
            <a:ext cx="3931920" cy="502920"/>
          </a:xfrm>
          <a:prstGeom prst="rect">
            <a:avLst/>
          </a:prstGeom>
          <a:solidFill>
            <a:srgbClr val="1A2B4A">
              <a:alpha val="94000"/>
            </a:srgbClr>
          </a:solidFill>
          <a:ln w="9525">
            <a:solidFill>
              <a:srgbClr val="0E8A8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64608" y="3328416"/>
            <a:ext cx="219456" cy="219456"/>
          </a:xfrm>
          <a:prstGeom prst="ellipse">
            <a:avLst/>
          </a:prstGeom>
          <a:solidFill>
            <a:srgbClr val="0E8A8A"/>
          </a:solidFill>
          <a:ln w="12700">
            <a:solidFill>
              <a:srgbClr val="0E8A8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93792" y="326440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History Log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" y="3849624"/>
            <a:ext cx="3931920" cy="502920"/>
          </a:xfrm>
          <a:prstGeom prst="rect">
            <a:avLst/>
          </a:prstGeom>
          <a:solidFill>
            <a:srgbClr val="1A2B4A">
              <a:alpha val="94000"/>
            </a:srgbClr>
          </a:solidFill>
          <a:ln w="9525">
            <a:solidFill>
              <a:srgbClr val="0E8A8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6928" y="3986784"/>
            <a:ext cx="219456" cy="219456"/>
          </a:xfrm>
          <a:prstGeom prst="ellipse">
            <a:avLst/>
          </a:prstGeom>
          <a:solidFill>
            <a:srgbClr val="0E8A8A"/>
          </a:solidFill>
          <a:ln w="12700">
            <a:solidFill>
              <a:srgbClr val="0E8A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6112" y="3922776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Animated Morse Tree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754880" y="3849624"/>
            <a:ext cx="3931920" cy="502920"/>
          </a:xfrm>
          <a:prstGeom prst="rect">
            <a:avLst/>
          </a:prstGeom>
          <a:solidFill>
            <a:srgbClr val="1A2B4A">
              <a:alpha val="94000"/>
            </a:srgbClr>
          </a:solidFill>
          <a:ln w="9525">
            <a:solidFill>
              <a:srgbClr val="0E8A8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608" y="3986784"/>
            <a:ext cx="219456" cy="219456"/>
          </a:xfrm>
          <a:prstGeom prst="ellipse">
            <a:avLst/>
          </a:prstGeom>
          <a:solidFill>
            <a:srgbClr val="0E8A8A"/>
          </a:solidFill>
          <a:ln w="12700">
            <a:solidFill>
              <a:srgbClr val="0E8A8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93792" y="3922776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&amp; Audio Feedback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0E8A8A"/>
          </a:solidFill>
          <a:ln w="12700">
            <a:solidFill>
              <a:srgbClr val="0E8A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Proposed Project — Core Algorithm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8A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Binary Tree Traversal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931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Morse code system is represented as a decision tree. Each dot leads to one branch, each dash to the other. To decode a symbol, the app reads left-to-right and follows the path until it reaches the matching character.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example: dot → dash = letter A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algorithm mirrors the natural structure of Morse code, making it ideal for both encoding and tree visualization.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0" y="914400"/>
            <a:ext cx="36576" cy="3566160"/>
          </a:xfrm>
          <a:prstGeom prst="rect">
            <a:avLst/>
          </a:prstGeom>
          <a:solidFill>
            <a:srgbClr val="A8D8D8"/>
          </a:solidFill>
          <a:ln w="12700">
            <a:solidFill>
              <a:srgbClr val="A8D8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5852160" y="1234440"/>
            <a:ext cx="713232" cy="502920"/>
          </a:xfrm>
          <a:prstGeom prst="line">
            <a:avLst/>
          </a:prstGeom>
          <a:noFill/>
          <a:ln w="15240">
            <a:solidFill>
              <a:srgbClr val="A0C8C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65392" y="1234440"/>
            <a:ext cx="914400" cy="457200"/>
          </a:xfrm>
          <a:prstGeom prst="line">
            <a:avLst/>
          </a:prstGeom>
          <a:noFill/>
          <a:ln w="15240">
            <a:solidFill>
              <a:srgbClr val="A0C8C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5276088" y="1965960"/>
            <a:ext cx="283464" cy="548640"/>
          </a:xfrm>
          <a:prstGeom prst="line">
            <a:avLst/>
          </a:prstGeom>
          <a:noFill/>
          <a:ln w="15240">
            <a:solidFill>
              <a:srgbClr val="A0C8C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559552" y="1965960"/>
            <a:ext cx="585216" cy="502920"/>
          </a:xfrm>
          <a:prstGeom prst="line">
            <a:avLst/>
          </a:prstGeom>
          <a:noFill/>
          <a:ln w="15240">
            <a:solidFill>
              <a:srgbClr val="A0C8C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7141464" y="1965960"/>
            <a:ext cx="246888" cy="502920"/>
          </a:xfrm>
          <a:prstGeom prst="line">
            <a:avLst/>
          </a:prstGeom>
          <a:noFill/>
          <a:ln w="15240">
            <a:solidFill>
              <a:srgbClr val="A0C8C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88352" y="1965960"/>
            <a:ext cx="731520" cy="502920"/>
          </a:xfrm>
          <a:prstGeom prst="line">
            <a:avLst/>
          </a:prstGeom>
          <a:noFill/>
          <a:ln w="15240">
            <a:solidFill>
              <a:srgbClr val="A0C8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92140" y="1288381"/>
            <a:ext cx="320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27164" y="1261704"/>
            <a:ext cx="320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74920" y="2212848"/>
            <a:ext cx="320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852160" y="2011680"/>
            <a:ext cx="320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68312" y="2029968"/>
            <a:ext cx="320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814681" y="1938528"/>
            <a:ext cx="320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99632" y="960120"/>
            <a:ext cx="640080" cy="320040"/>
          </a:xfrm>
          <a:prstGeom prst="ellipse">
            <a:avLst/>
          </a:prstGeom>
          <a:solidFill>
            <a:srgbClr val="0E8A8A"/>
          </a:solidFill>
          <a:ln w="12700">
            <a:solidFill>
              <a:srgbClr val="0E8A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99632" y="96012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285232" y="1691640"/>
            <a:ext cx="640080" cy="320040"/>
          </a:xfrm>
          <a:prstGeom prst="ellipse">
            <a:avLst/>
          </a:prstGeom>
          <a:solidFill>
            <a:srgbClr val="1A2B4A"/>
          </a:solidFill>
          <a:ln w="12700">
            <a:solidFill>
              <a:srgbClr val="60709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85232" y="169164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(.)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114032" y="1691640"/>
            <a:ext cx="640080" cy="320040"/>
          </a:xfrm>
          <a:prstGeom prst="ellipse">
            <a:avLst/>
          </a:prstGeom>
          <a:solidFill>
            <a:srgbClr val="1A2B4A"/>
          </a:solidFill>
          <a:ln w="12700">
            <a:solidFill>
              <a:srgbClr val="60709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14032" y="169164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(—)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736592" y="2468880"/>
            <a:ext cx="640080" cy="320040"/>
          </a:xfrm>
          <a:prstGeom prst="ellipse">
            <a:avLst/>
          </a:prstGeom>
          <a:solidFill>
            <a:srgbClr val="1A2B4A"/>
          </a:solidFill>
          <a:ln w="12700">
            <a:solidFill>
              <a:srgbClr val="60709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36592" y="24688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(..)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833872" y="2468880"/>
            <a:ext cx="640080" cy="320040"/>
          </a:xfrm>
          <a:prstGeom prst="ellipse">
            <a:avLst/>
          </a:prstGeom>
          <a:solidFill>
            <a:srgbClr val="0E8A8A"/>
          </a:solidFill>
          <a:ln w="12700">
            <a:solidFill>
              <a:srgbClr val="0E8A8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33872" y="24688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(.-)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748272" y="2468880"/>
            <a:ext cx="640080" cy="320040"/>
          </a:xfrm>
          <a:prstGeom prst="ellipse">
            <a:avLst/>
          </a:prstGeom>
          <a:solidFill>
            <a:srgbClr val="1A2B4A"/>
          </a:solidFill>
          <a:ln w="12700">
            <a:solidFill>
              <a:srgbClr val="60709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48272" y="24688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(-.) 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845552" y="2468880"/>
            <a:ext cx="640080" cy="320040"/>
          </a:xfrm>
          <a:prstGeom prst="ellipse">
            <a:avLst/>
          </a:prstGeom>
          <a:solidFill>
            <a:srgbClr val="1A2B4A"/>
          </a:solidFill>
          <a:ln w="12700">
            <a:solidFill>
              <a:srgbClr val="60709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845552" y="24688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(--)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754880" y="3017520"/>
            <a:ext cx="4114800" cy="594360"/>
          </a:xfrm>
          <a:prstGeom prst="rect">
            <a:avLst/>
          </a:prstGeom>
          <a:solidFill>
            <a:srgbClr val="0E8A8A">
              <a:alpha val="20000"/>
            </a:srgbClr>
          </a:solidFill>
          <a:ln w="12700">
            <a:solidFill>
              <a:srgbClr val="0E8A8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46320" y="30632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· — (dot, dash) → follows left then right → A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57200" y="4297680"/>
            <a:ext cx="8229600" cy="594360"/>
          </a:xfrm>
          <a:prstGeom prst="rect">
            <a:avLst/>
          </a:prstGeom>
          <a:solidFill>
            <a:srgbClr val="1A2B4A">
              <a:alpha val="92000"/>
            </a:srgbClr>
          </a:solidFill>
          <a:ln w="12700">
            <a:solidFill>
              <a:srgbClr val="0E8A8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43434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Results: </a:t>
            </a:r>
            <a:r>
              <a:rPr lang="en-US" sz="1200" dirty="0">
                <a:solidFill>
                  <a:srgbClr val="C0D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translated standard letters and numbers, handled word gaps, substituted unrecognized symbols with '?', and successfully decoded SOS.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0E8A8A"/>
          </a:solidFill>
          <a:ln w="12700">
            <a:solidFill>
              <a:srgbClr val="0E8A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Scope and Limitations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8A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Scope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1389888"/>
            <a:ext cx="39319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alphabet (A–Z) and numerals (0–9)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Text-to-Morse encoding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Morse-to-text decoding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Telegraph-style input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Morse audio playback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WAV audio decoding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history feature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Animated tree visualization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0" y="914400"/>
            <a:ext cx="36576" cy="3931920"/>
          </a:xfrm>
          <a:prstGeom prst="rect">
            <a:avLst/>
          </a:prstGeom>
          <a:solidFill>
            <a:srgbClr val="A8D8D8"/>
          </a:solidFill>
          <a:ln w="12700">
            <a:solidFill>
              <a:srgbClr val="A8D8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9601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04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846320" y="1389888"/>
            <a:ext cx="39319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fully support punctuation or non-English characters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 audio decoder requires clean recordings — unreliable with background noise or irregular timing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certified medical, emergency, or professional AAC device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substitute for specialized AAC systems or clinically validated accessibility tools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A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purpose: Educational and assistive demonstration tool for understanding and using Morse code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E8A8A"/>
          </a:solidFill>
          <a:ln w="12700">
            <a:solidFill>
              <a:srgbClr val="0E8A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5486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kern="0" spc="400" dirty="0">
                <a:solidFill>
                  <a:srgbClr val="0E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· ·   — — —   · · ·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48640" y="242316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A8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Morse Code Translator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286000" y="2999232"/>
            <a:ext cx="4572000" cy="36576"/>
          </a:xfrm>
          <a:prstGeom prst="rect">
            <a:avLst/>
          </a:prstGeom>
          <a:solidFill>
            <a:srgbClr val="0E8A8A"/>
          </a:solidFill>
          <a:ln w="12700">
            <a:solidFill>
              <a:srgbClr val="0E8A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1546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 Mundiz  |  Ramil Mabanag  |  Alexie San Jose  |  John Mark Sato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6576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0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 of Science in Computer Science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60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Mindanao — Tagum Branch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46634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405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References: Yang (2003) • Hsieh &amp; Luo (1999) • Jiang et al. (2021)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648</Words>
  <Application>Microsoft Office PowerPoint</Application>
  <PresentationFormat>On-screen Show (16:9)</PresentationFormat>
  <Paragraphs>85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Courier New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Morse Code Translator</dc:title>
  <dc:subject>PptxGenJS Presentation</dc:subject>
  <dc:creator>PptxGenJS</dc:creator>
  <cp:lastModifiedBy>Bibang Tae</cp:lastModifiedBy>
  <cp:revision>2</cp:revision>
  <dcterms:created xsi:type="dcterms:W3CDTF">2026-05-21T14:37:27Z</dcterms:created>
  <dcterms:modified xsi:type="dcterms:W3CDTF">2026-05-22T03:10:29Z</dcterms:modified>
</cp:coreProperties>
</file>